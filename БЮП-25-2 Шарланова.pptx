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SimSun" pitchFamily="0" charset="0"/>
        <a:cs typeface="Times New Roman" pitchFamily="1" charset="-52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4960590" val="1062" revOS="4"/>
      <pr:smFileRevision xmlns:pr="smNativeData" xmlns="smNativeData" dt="1774960590" val="101"/>
      <pr:guideOptions xmlns:pr="smNativeData" xmlns="smNativeData" dt="1774960590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94" d="100"/>
          <a:sy n="94" d="100"/>
        </p:scale>
        <p:origin x="683" y="338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9" d="100"/>
        <a:sy n="19" d="100"/>
      </p:scale>
      <p:origin x="0" y="0"/>
    </p:cViewPr>
  </p:sorterViewPr>
  <p:notesViewPr>
    <p:cSldViewPr snapToObjects="1" showGuides="1">
      <p:cViewPr>
        <p:scale>
          <a:sx n="94" d="100"/>
          <a:sy n="94" d="100"/>
        </p:scale>
        <p:origin x="683" y="338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9239-77C0-2264-8ECF-8131DC8178D4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AB94-DAC0-225D-8ECF-2C08E5817879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F35E-10C0-2205-8ECF-E650BD8178B3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FA5E-10C0-220C-8ECF-E659B48178B3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CBB5-FBC0-223D-8ECF-0D6885817858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9F9A-D4C0-2269-8ECF-223CD1817877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Заголовок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EF25-6BC0-2219-8ECF-9D4CA18178C8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89B0-FEC0-227F-8ECF-082AC781785D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99FE-B0C0-226F-8ECF-463AD7817813}" type="datetime1">
              <a:t/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C275-3BC0-2234-8ECF-CD618C817898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E46A-24C0-2212-8ECF-D247AA817887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E8B2-FCC0-221E-8ECF-0A4BA681785F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E631-7FC0-2210-8ECF-8945A88178DC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B82D-63C0-224E-8ECF-951BF68178C0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DC92-DCC0-222A-8ECF-2A7F9281787F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AC1D-53C0-225A-8ECF-A50FE28178F0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82C1-8FC0-2274-8ECF-7921CC81782C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D616-58C0-2220-8ECF-AE75988178FB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AF1C-52C0-2259-8ECF-A40CE18178F1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B8D9-97C0-224E-8ECF-611BF6817834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2D77947E-30C0-2262-8ECF-C637DA817893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2D77BA79-37C0-224C-8ECF-C119F4817894}" type="slidenum">
              <a:t/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Оформление по умолчанию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2D778190-DEC0-2277-8ECF-2822CF81787D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2D779CE5-ABC0-226A-8ECF-5D3FD2817808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SimSun" pitchFamily="0" charset="0"/>
          <a:cs typeface="Times New Roman" pitchFamily="1" charset="-52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AUAAEILAADcRAAAThQAAAAAAAAmAAAACAAAAAEAAAAAAAAA"/>
              </a:ext>
            </a:extLst>
          </p:cNvSpPr>
          <p:nvPr>
            <p:ph type="ctrTitle"/>
          </p:nvPr>
        </p:nvSpPr>
        <p:spPr>
          <a:xfrm>
            <a:off x="830580" y="1830070"/>
            <a:ext cx="10363200" cy="1470660"/>
          </a:xfrm>
        </p:spPr>
        <p:txBody>
          <a:bodyPr/>
          <a:lstStyle/>
          <a:p>
            <a:pPr algn="l">
              <a:defRPr sz="2400" cap="none"/>
            </a:pPr>
            <a:r>
              <a:t>Цифровая аналитика в юридической практике</a:t>
            </a:r>
          </a:p>
          <a:p>
            <a:pPr algn="l">
              <a:defRPr sz="2400" cap="none"/>
            </a:pPr>
          </a:p>
          <a:p>
            <a:pPr algn="l">
              <a:defRPr sz="2400" cap="none"/>
            </a:pPr>
            <a:r>
              <a:t>Анализ судебной статистики по гражданским делам</a:t>
            </a:r>
          </a:p>
          <a:p>
            <a:pPr algn="l">
              <a:defRPr sz="2400" cap="none"/>
            </a:pPr>
            <a:r>
              <a:t>(Семейно-правовые споры: расторжение брака, взыскание алиментов, установление отцовства)</a:t>
            </a:r>
          </a:p>
          <a:p>
            <a:pPr algn="l">
              <a:defRPr sz="2400" cap="none"/>
            </a:pPr>
          </a:p>
          <a:p>
            <a:pPr algn="l">
              <a:defRPr sz="2400" cap="none"/>
            </a:pPr>
            <a:r>
              <a:t>Вариант №3 (статьи 143, 215, 216-219, 228-234.1)</a:t>
            </a:r>
          </a:p>
          <a:p>
            <a:pPr algn="l">
              <a:defRPr sz="2400" cap="none"/>
            </a:pPr>
          </a:p>
          <a:p>
            <a:pPr algn="l">
              <a:defRPr sz="2400" cap="none"/>
            </a:pPr>
            <a:r>
              <a:t>Выполнил: Шарланова Донара Эдуардовна</a:t>
            </a:r>
          </a:p>
          <a:p>
            <a:pPr algn="l">
              <a:defRPr sz="2400" cap="none"/>
            </a:pPr>
            <a:r>
              <a:t>Группа: БЮП-25-2</a:t>
            </a:r>
          </a:p>
          <a:p>
            <a:pPr algn="l">
              <a:defRPr sz="2400" cap="none"/>
            </a:pPr>
            <a:r>
              <a:t>Дата: 28.03.2026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tP7//9YXAAA0MwAAniIAABAAAAAmAAAACAAAAAEAAAAAAAAA"/>
              </a:ext>
            </a:extLst>
          </p:cNvSpPr>
          <p:nvPr>
            <p:ph type="subTitle" idx="1"/>
          </p:nvPr>
        </p:nvSpPr>
        <p:spPr>
          <a:xfrm>
            <a:off x="-210820" y="3874770"/>
            <a:ext cx="8534400" cy="1752600"/>
          </a:xfrm>
        </p:spPr>
        <p:txBody>
          <a:bodyPr/>
          <a:lstStyle/>
          <a:p>
            <a:pPr>
              <a:defRPr sz="1800" cap="none"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vf//8j///+eNwAA1AgAABAAAAAmAAAACAAAAAEAAAAAAAAA"/>
              </a:ext>
            </a:extLst>
          </p:cNvSpPr>
          <p:nvPr>
            <p:ph type="ctrTitle"/>
          </p:nvPr>
        </p:nvSpPr>
        <p:spPr>
          <a:xfrm>
            <a:off x="-1322070" y="-35560"/>
            <a:ext cx="10363200" cy="1470660"/>
          </a:xfrm>
        </p:spPr>
        <p:txBody>
          <a:bodyPr/>
          <a:lstStyle/>
          <a:p>
            <a:pPr/>
            <a:r>
              <a:t>Цель и методология</a:t>
            </a:r>
          </a:p>
        </p:txBody>
      </p:sp>
      <p:sp>
        <p:nvSpPr>
          <p:cNvPr id="3" name="Под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wEAANQIAACuPgAAow8AABAAAAAmAAAACAAAAAEAAAAAAAAA"/>
              </a:ext>
            </a:extLst>
          </p:cNvSpPr>
          <p:nvPr>
            <p:ph type="subTitle" idx="1"/>
          </p:nvPr>
        </p:nvSpPr>
        <p:spPr>
          <a:xfrm>
            <a:off x="215265" y="1435100"/>
            <a:ext cx="9973945" cy="1106805"/>
          </a:xfrm>
        </p:spPr>
        <p:txBody>
          <a:bodyPr/>
          <a:lstStyle/>
          <a:p>
            <a:pPr algn="l">
              <a:defRPr sz="2200" cap="none"/>
            </a:pPr>
            <a:r>
              <a:t>Объект исследования: Дела о расторжении брака, взыскании алиментов, установлении отцовства, разделе имущества супругов.</a:t>
            </a:r>
          </a:p>
          <a:p>
            <a:pPr algn="l">
              <a:defRPr sz="2200" cap="none"/>
            </a:pPr>
          </a:p>
          <a:p>
            <a:pPr algn="l">
              <a:defRPr sz="2200" cap="none"/>
            </a:pPr>
            <a:r>
              <a:t>Источники данных:</a:t>
            </a:r>
          </a:p>
          <a:p>
            <a:pPr algn="l">
              <a:defRPr sz="2200" cap="none"/>
            </a:pPr>
            <a:r>
              <a:t>Судебный департамент при ВС РФ (формы №1, №2) — 2014–2023</a:t>
            </a:r>
          </a:p>
          <a:p>
            <a:pPr algn="l">
              <a:defRPr sz="2200" cap="none"/>
            </a:pPr>
            <a:r>
              <a:t>Данные Росстат</a:t>
            </a:r>
          </a:p>
          <a:p>
            <a:pPr algn="l">
              <a:defRPr sz="2200" cap="none"/>
            </a:pPr>
            <a:r>
              <a:t>Аналитические обзоры 2024–2025</a:t>
            </a:r>
          </a:p>
          <a:p>
            <a:pPr algn="l">
              <a:defRPr sz="2200" cap="none"/>
            </a:pPr>
            <a:r>
              <a:t>Методы анализа:</a:t>
            </a:r>
          </a:p>
          <a:p>
            <a:pPr algn="l">
              <a:defRPr sz="2200" cap="none"/>
            </a:pPr>
          </a:p>
          <a:p>
            <a:pPr algn="l">
              <a:defRPr sz="2200" cap="none"/>
            </a:pPr>
            <a:r>
              <a:t>Горизонтальный анализ (динамика по годам)</a:t>
            </a:r>
          </a:p>
          <a:p>
            <a:pPr algn="l">
              <a:defRPr sz="2200" cap="none"/>
            </a:pPr>
          </a:p>
          <a:p>
            <a:pPr algn="l">
              <a:defRPr sz="2200" cap="none"/>
            </a:pPr>
            <a:r>
              <a:t>Расчет структурных показателей (доля удовлетворенных, эффективность)</a:t>
            </a:r>
          </a:p>
          <a:p>
            <a:pPr algn="l">
              <a:defRPr sz="2200" cap="none"/>
            </a:pPr>
          </a:p>
          <a:p>
            <a:pPr algn="l">
              <a:defRPr sz="2200" cap="none"/>
            </a:pPr>
            <a:r>
              <a:t>Сравнительный анализ 2014 и 2024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f///wAAAACAJQAATAUAABAAAAAmAAAACAAAAAEAAAAAAAAA"/>
              </a:ext>
            </a:extLst>
          </p:cNvSpPr>
          <p:nvPr>
            <p:ph type="ctrTitle"/>
          </p:nvPr>
        </p:nvSpPr>
        <p:spPr>
          <a:xfrm>
            <a:off x="-90805" y="0"/>
            <a:ext cx="6186805" cy="861060"/>
          </a:xfrm>
        </p:spPr>
        <p:txBody>
          <a:bodyPr/>
          <a:lstStyle/>
          <a:p>
            <a:pPr>
              <a:defRPr sz="3600" cap="none"/>
            </a:pPr>
            <a:r>
              <a:t>Выборка данных</a:t>
            </a:r>
          </a:p>
        </p:txBody>
      </p:sp>
      <p:sp>
        <p:nvSpPr>
          <p:cNvPr id="3" name="Под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/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zr/L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OAw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CAOAABMBQAA8TgAAOkd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296160" y="861060"/>
            <a:ext cx="6960235" cy="4001135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722120" y="5017135"/>
          <a:ext cx="8128000" cy="1656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09545"/>
                <a:gridCol w="2709545"/>
                <a:gridCol w="2708910"/>
              </a:tblGrid>
              <a:tr h="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Код региона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Название субъекта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Население (2024, млн. чел.)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4960590" type="auto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77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г. Москва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13,264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4960590" type="auto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66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Свердловская обл.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4,239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4960590" type="auto" val="0"/>
                  </a:ext>
                </a:extLst>
              </a:tr>
              <a:tr h="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23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Краснодарский край	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</a:pPr>
                      <a:r>
                        <a:t>5,838</a:t>
                      </a:r>
                    </a:p>
                  </a:txBody>
                  <a:tcPr marL="35560" marR="35560" marT="35560" marB="35560" vert="horz">
                    <a:lnL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4960590" type="auto" val="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/v//6oAAACXOwAAtgkAABAAAAAmAAAACAAAAAEAAAAAAAAA"/>
              </a:ext>
            </a:extLst>
          </p:cNvSpPr>
          <p:nvPr>
            <p:ph type="ctrTitle"/>
          </p:nvPr>
        </p:nvSpPr>
        <p:spPr>
          <a:xfrm>
            <a:off x="-676275" y="107950"/>
            <a:ext cx="10363200" cy="1470660"/>
          </a:xfrm>
        </p:spPr>
        <p:txBody>
          <a:bodyPr/>
          <a:lstStyle/>
          <a:p>
            <a:pPr/>
            <a:r>
              <a:t> Динамика поступления дел</a:t>
            </a:r>
          </a:p>
        </p:txBody>
      </p:sp>
      <p:sp>
        <p:nvSpPr>
          <p:cNvPr id="3" name="Под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/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zr/L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BcDAAB6CwAA0iAAANge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" y="1865630"/>
            <a:ext cx="4832985" cy="31483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Изображение2"/>
          <p:cNvPicPr>
            <a:picLocks noChangeAspect="1"/>
            <a:extLst>
              <a:ext uri="smNativeData">
                <pr:smNativeData xmlns:pr="smNativeData" xmlns="smNativeData" val="SMDATA_17_zr/L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OAw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FAjAAAJCwAAVEEAAPE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0" y="1793875"/>
            <a:ext cx="4879340" cy="30734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/>
          </a:p>
        </p:txBody>
      </p:sp>
      <p:sp>
        <p:nvSpPr>
          <p:cNvPr id="3" name="Под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/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zr/L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ZmZn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CYCAABjCAAAqiAAAKQd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363345"/>
            <a:ext cx="4960620" cy="345503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Изображение2"/>
          <p:cNvPicPr>
            <a:picLocks noChangeAspect="1"/>
            <a:extLst>
              <a:ext uri="smNativeData">
                <pr:smNativeData xmlns:pr="smNativeData" xmlns="smNativeData" val="SMDATA_17_zr/L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FAjAADbBAAAz0MAALg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0" y="789305"/>
            <a:ext cx="5282565" cy="32289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Сравнительный анализ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/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zr/LaR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NUDAAAnCgAAlSwAABsh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" y="1650365"/>
            <a:ext cx="6624320" cy="37312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////zkAAAAfPwAARQkAABAAAAAmAAAACAAAAAEAAAAAAAAA"/>
              </a:ext>
            </a:extLst>
          </p:cNvSpPr>
          <p:nvPr>
            <p:ph type="ctrTitle"/>
          </p:nvPr>
        </p:nvSpPr>
        <p:spPr>
          <a:xfrm>
            <a:off x="-102235" y="36195"/>
            <a:ext cx="10363200" cy="1470660"/>
          </a:xfrm>
        </p:spPr>
        <p:txBody>
          <a:bodyPr/>
          <a:lstStyle/>
          <a:p>
            <a:pPr/>
            <a:r>
              <a:t>Практические рекомендации</a:t>
            </a:r>
          </a:p>
        </p:txBody>
      </p:sp>
      <p:sp>
        <p:nvSpPr>
          <p:cNvPr id="3" name="Под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gAAABUJAABdSAAAKRkAABAAAAAmAAAACAAAAAEAAAAAAAAA"/>
              </a:ext>
            </a:extLst>
          </p:cNvSpPr>
          <p:nvPr>
            <p:ph type="subTitle" idx="1"/>
          </p:nvPr>
        </p:nvSpPr>
        <p:spPr>
          <a:xfrm>
            <a:off x="143510" y="1476375"/>
            <a:ext cx="11619865" cy="2613660"/>
          </a:xfrm>
        </p:spPr>
        <p:txBody>
          <a:bodyPr/>
          <a:lstStyle/>
          <a:p>
            <a:pPr algn="l">
              <a:defRPr sz="1600" b="1" cap="none"/>
            </a:pPr>
            <a:r>
              <a:t>Для граждан</a:t>
            </a:r>
          </a:p>
          <a:p>
            <a:pPr algn="l">
              <a:defRPr sz="1600" cap="none"/>
            </a:pPr>
            <a:r>
              <a:t>Алименты — почти всегда одобряют (92%), так что смело подавай. Лучше через приказное производство — быстрее и без заседаний.</a:t>
            </a:r>
          </a:p>
          <a:p>
            <a:pPr algn="l">
              <a:defRPr sz="1600" cap="none"/>
            </a:pPr>
            <a:r>
              <a:t>Развод — если нет спора по детям и имуществу, иди в ЗАГС, дешевле. Если в суд — готовь 4000 рублей госпошлины (с 2024 года подняли с 400).</a:t>
            </a:r>
          </a:p>
          <a:p>
            <a:pPr algn="l">
              <a:defRPr sz="1600" cap="none"/>
            </a:pPr>
            <a:r>
              <a:t>Раздел имущества — собирай все чеки и договоры заранее. Если договорились с бывшим — заключите мировое соглашение, дело закроют и все будут довольны.</a:t>
            </a:r>
          </a:p>
          <a:p>
            <a:pPr algn="l">
              <a:defRPr sz="1600" cap="none"/>
            </a:pPr>
          </a:p>
          <a:p>
            <a:pPr algn="l">
              <a:defRPr sz="1600" b="1" cap="none"/>
            </a:pPr>
            <a:r>
              <a:t>Для юристов</a:t>
            </a:r>
          </a:p>
          <a:p>
            <a:pPr algn="l">
              <a:defRPr sz="1600" cap="none"/>
            </a:pPr>
            <a:r>
              <a:t>Выбирай категории — алименты и отцовство самые беспроигрышные (92% и 90%).</a:t>
            </a:r>
          </a:p>
          <a:p>
            <a:pPr algn="l">
              <a:defRPr sz="1600" cap="none"/>
            </a:pPr>
            <a:r>
              <a:t>В Москве сложнее — там выше процент отказов по разделу имущества, готовь доказательства тщательнее.</a:t>
            </a:r>
          </a:p>
          <a:p>
            <a:pPr algn="l">
              <a:defRPr sz="1600" cap="none"/>
            </a:pPr>
            <a:r>
              <a:t>Используй приказное производство — по алиментам это вообще имба: 10–15 дней вместо 2–3 месяцев.</a:t>
            </a:r>
          </a:p>
          <a:p>
            <a:pPr algn="l">
              <a:defRPr sz="1600" cap="none"/>
            </a:pPr>
            <a:r>
              <a:t>Смотри регион — в Краснодарском крае нагрузка выше, но и удовлетворяемость по алиментам выше. В Москве строже.</a:t>
            </a:r>
          </a:p>
          <a:p>
            <a:pPr algn="l">
              <a:defRPr sz="1600" cap="none"/>
            </a:pPr>
          </a:p>
          <a:p>
            <a:pPr algn="l">
              <a:defRPr sz="1600" b="1" cap="none"/>
            </a:pPr>
            <a:r>
              <a:t>Для органов власти</a:t>
            </a:r>
          </a:p>
          <a:p>
            <a:pPr algn="l">
              <a:defRPr sz="1600" cap="none"/>
            </a:pPr>
            <a:r>
              <a:t>Электронное правосудие — помогло сократить сроки с 35 до 27 дней. Надо дальше развивать, чтобы можно было всё онлайн подавать.</a:t>
            </a:r>
          </a:p>
          <a:p>
            <a:pPr algn="l">
              <a:defRPr sz="1600" cap="none"/>
            </a:pPr>
            <a:r>
              <a:t>Нагрузка на судей — в Москве и Краснодарском крае судьи запариваются больше всех. Нужно перераспределять штаты.</a:t>
            </a:r>
          </a:p>
          <a:p>
            <a:pPr algn="l">
              <a:defRPr sz="1600" cap="none"/>
            </a:pPr>
            <a:r>
              <a:t>Приказное производство — расширить список дел, которые можно так рассматривать. Это разгрузит суды и ускорит процессы.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/>
          </a:p>
        </p:txBody>
      </p:sp>
      <p:sp>
        <p:nvSpPr>
          <p:cNvPr id="3" name="ПодзаголовокСлайда1"/>
          <p:cNvSpPr>
            <a:spLocks noGrp="1" noChangeArrowheads="1"/>
            <a:extLst>
              <a:ext uri="smNativeData">
                <pr:smNativeData xmlns:pr="smNativeData" xmlns="smNativeData" val="SMDATA_15_zr/LaR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C4GAABGSQAA9hAAABAAAAAmAAAACAAAAAEAAAAAAAAA"/>
              </a:ext>
            </a:extLst>
          </p:cNvSpPr>
          <p:nvPr>
            <p:ph type="subTitle" idx="1"/>
          </p:nvPr>
        </p:nvSpPr>
        <p:spPr>
          <a:xfrm>
            <a:off x="0" y="1004570"/>
            <a:ext cx="11911330" cy="1752600"/>
          </a:xfrm>
        </p:spPr>
        <p:txBody>
          <a:bodyPr/>
          <a:lstStyle/>
          <a:p>
            <a:pPr algn="l">
              <a:defRPr sz="1600" b="1" cap="none"/>
            </a:pPr>
            <a:r>
              <a:t>3 главных вывода</a:t>
            </a:r>
          </a:p>
          <a:p>
            <a:pPr algn="l">
              <a:defRPr sz="1600" cap="none"/>
            </a:pPr>
            <a:r>
              <a:t>Количество дел выросло, но рост замедляется</a:t>
            </a:r>
          </a:p>
          <a:p>
            <a:pPr algn="l">
              <a:defRPr sz="1600" cap="none"/>
            </a:pPr>
            <a:r>
              <a:t>За 10 лет поступление дел увеличилось на 28,8% (с 411 тыс. до 530 тыс.). Пик пришелся на 2018–2019, после пандемии показатели стабилизировались. В 2025 ожидаю снижение из-за повышения госпошлин.</a:t>
            </a:r>
          </a:p>
          <a:p>
            <a:pPr algn="l">
              <a:defRPr sz="1600" cap="none"/>
            </a:pPr>
            <a:r>
              <a:t>Суды стали работать быстрее и эффективнее</a:t>
            </a:r>
          </a:p>
          <a:p>
            <a:pPr algn="l">
              <a:defRPr sz="1600" cap="none"/>
            </a:pPr>
            <a:r>
              <a:t>Средний срок рассмотрения сократился с 35 до 27 дней (–22,9%). Доля удовлетворенных исков выросла с 87,8% до 88,5%. Эффективность судопроизводства держится на уровне 97%. Спасибо электронному правосудию и оптимизации процессов.</a:t>
            </a:r>
          </a:p>
          <a:p>
            <a:pPr algn="l">
              <a:defRPr sz="1600" cap="none"/>
            </a:pPr>
            <a:r>
              <a:t>Регионы отличаются</a:t>
            </a:r>
          </a:p>
          <a:p>
            <a:pPr algn="l">
              <a:defRPr sz="1600" cap="none"/>
            </a:pPr>
            <a:r>
              <a:t>В Москве выше нагрузка на судей и строже требования к доказательствам (больше отказов). В Краснодарском крае из-за миграции больше дел. В Свердловской области средние показатели. Это надо учитывать при планировании работы судов.</a:t>
            </a:r>
          </a:p>
          <a:p>
            <a:pPr algn="l">
              <a:defRPr sz="1600" cap="none"/>
            </a:pPr>
          </a:p>
          <a:p>
            <a:pPr algn="l">
              <a:defRPr sz="1600" b="1" cap="none"/>
            </a:pPr>
            <a:r>
              <a:t>Прогноз на следующий год</a:t>
            </a:r>
          </a:p>
          <a:p>
            <a:pPr algn="l">
              <a:defRPr sz="1600" cap="none"/>
            </a:pPr>
            <a:r>
              <a:t>Количество разводов снизится на 10–15% из-за повышения госпошлины с 400 до 4000 рублей.</a:t>
            </a:r>
          </a:p>
          <a:p>
            <a:pPr algn="l">
              <a:defRPr sz="1600" cap="none"/>
            </a:pPr>
            <a:r>
              <a:t>Дела о взыскании алиментов останутся стабильными или немного вырастут (индексация, меры поддержки семей).</a:t>
            </a:r>
          </a:p>
          <a:p>
            <a:pPr algn="l">
              <a:defRPr sz="1600" cap="none"/>
            </a:pPr>
            <a:r>
              <a:t>Удовлетворяемость останется высокой (88–90%).</a:t>
            </a:r>
          </a:p>
          <a:p>
            <a:pPr algn="l">
              <a:defRPr sz="1600" cap="none"/>
            </a:pPr>
            <a:r>
              <a:t>Сроки рассмотрения продолжат сокращаться за счет цифровизации.</a:t>
            </a:r>
          </a:p>
          <a:p>
            <a:pPr algn="l">
              <a:defRPr sz="1600" cap="none"/>
            </a:pPr>
          </a:p>
          <a:p>
            <a:pPr algn="l">
              <a:defRPr sz="1600" b="1" cap="none"/>
            </a:pPr>
            <a:r>
              <a:t>Предложения по дальнейшему исследованию</a:t>
            </a:r>
          </a:p>
          <a:p>
            <a:pPr algn="l">
              <a:defRPr sz="1600" cap="none"/>
            </a:pPr>
            <a:r>
              <a:t>Сравнить, как повышение госпошлин повлияло на разные категории дел (разводы vs алименты vs имущество).</a:t>
            </a:r>
          </a:p>
          <a:p>
            <a:pPr algn="l">
              <a:defRPr sz="1600" cap="none"/>
            </a:pPr>
            <a:r>
              <a:t>Проанализировать регионы с аномально высокой или низкой удовлетворяемостью — возможно, там особенности судебной практики.</a:t>
            </a:r>
          </a:p>
          <a:p>
            <a:pPr algn="l">
              <a:defRPr sz="1600" cap="none"/>
            </a:pPr>
            <a:r>
              <a:t>Исследовать эффективность приказного производства по алиментам и возможность его расширения на другие категории.</a:t>
            </a:r>
          </a:p>
        </p:txBody>
      </p:sp>
      <p:sp>
        <p:nvSpPr>
          <p:cNvPr id="4" name="Текстовое поле1"/>
          <p:cNvSpPr txBox="1">
            <a:extLst>
              <a:ext uri="smNativeData">
                <pr:smNativeData xmlns:pr="smNativeData" xmlns="smNativeData" val="SMDATA_15_zr/LaRMAAAAlAAAAEg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+QMAAOIAAAB1HgAATAUAABAAAAAmAAAACAAAAP//////////"/>
              </a:ext>
            </a:extLst>
          </p:cNvSpPr>
          <p:nvPr/>
        </p:nvSpPr>
        <p:spPr>
          <a:xfrm>
            <a:off x="645795" y="143510"/>
            <a:ext cx="4305300" cy="717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2600" cap="none"/>
            </a:pPr>
            <a:r>
              <a:t>Выводы и перспективы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Пользователь</cp:lastModifiedBy>
  <cp:revision>0</cp:revision>
  <dcterms:created xsi:type="dcterms:W3CDTF">2026-03-30T13:14:03Z</dcterms:created>
  <dcterms:modified xsi:type="dcterms:W3CDTF">2026-03-31T12:36:30Z</dcterms:modified>
</cp:coreProperties>
</file>